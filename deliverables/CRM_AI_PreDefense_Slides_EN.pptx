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0"/>
            <a:ext cx="4693616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914400"/>
            <a:ext cx="164592" cy="164592"/>
          </a:xfrm>
          <a:prstGeom prst="ellipse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24160" y="777240"/>
            <a:ext cx="201168" cy="201168"/>
          </a:xfrm>
          <a:prstGeom prst="ellipse">
            <a:avLst/>
          </a:prstGeom>
          <a:solidFill>
            <a:srgbClr val="517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0" y="2148840"/>
            <a:ext cx="128016" cy="128016"/>
          </a:xfrm>
          <a:prstGeom prst="ellipse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2377440"/>
            <a:ext cx="237744" cy="237744"/>
          </a:xfrm>
          <a:prstGeom prst="ellipse">
            <a:avLst/>
          </a:prstGeom>
          <a:solidFill>
            <a:srgbClr val="517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79" y="3840480"/>
            <a:ext cx="155448" cy="155448"/>
          </a:xfrm>
          <a:prstGeom prst="ellipse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24160" y="4343400"/>
            <a:ext cx="173736" cy="173736"/>
          </a:xfrm>
          <a:prstGeom prst="ellipse">
            <a:avLst/>
          </a:prstGeom>
          <a:solidFill>
            <a:srgbClr val="517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0" y="5394960"/>
            <a:ext cx="265176" cy="265176"/>
          </a:xfrm>
          <a:prstGeom prst="ellipse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8339327" y="877824"/>
            <a:ext cx="2176273" cy="128016"/>
          </a:xfrm>
          <a:prstGeom prst="line">
            <a:avLst/>
          </a:prstGeom>
          <a:ln w="17780">
            <a:solidFill>
              <a:srgbClr val="2C4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515600" y="877824"/>
            <a:ext cx="868680" cy="1618488"/>
          </a:xfrm>
          <a:prstGeom prst="line">
            <a:avLst/>
          </a:prstGeom>
          <a:ln w="17780">
            <a:solidFill>
              <a:srgbClr val="2C4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217152" y="2212848"/>
            <a:ext cx="2167128" cy="283464"/>
          </a:xfrm>
          <a:prstGeom prst="line">
            <a:avLst/>
          </a:prstGeom>
          <a:ln w="17780">
            <a:solidFill>
              <a:srgbClr val="2C4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046720" y="2212848"/>
            <a:ext cx="1170432" cy="1719072"/>
          </a:xfrm>
          <a:prstGeom prst="line">
            <a:avLst/>
          </a:prstGeom>
          <a:ln w="17780">
            <a:solidFill>
              <a:srgbClr val="2C4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3931920"/>
            <a:ext cx="1051560" cy="1600200"/>
          </a:xfrm>
          <a:prstGeom prst="line">
            <a:avLst/>
          </a:prstGeom>
          <a:ln w="17780">
            <a:solidFill>
              <a:srgbClr val="2C4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098280" y="4443984"/>
            <a:ext cx="1463040" cy="1088136"/>
          </a:xfrm>
          <a:prstGeom prst="line">
            <a:avLst/>
          </a:prstGeom>
          <a:ln w="17780">
            <a:solidFill>
              <a:srgbClr val="2C4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58368" y="630936"/>
            <a:ext cx="3794760" cy="338328"/>
          </a:xfrm>
          <a:prstGeom prst="roundRect">
            <a:avLst>
              <a:gd name="adj" fmla="val 15000"/>
            </a:avLst>
          </a:prstGeom>
          <a:solidFill>
            <a:srgbClr val="2143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694944"/>
            <a:ext cx="35753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A6E5DE"/>
                </a:solidFill>
                <a:latin typeface="Aptos"/>
              </a:defRPr>
            </a:pPr>
            <a:r>
              <a:t>FIRST PRE-DEFENSE  / 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1499616"/>
            <a:ext cx="7772400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700" b="1" i="0">
                <a:solidFill>
                  <a:srgbClr val="FFFFFF"/>
                </a:solidFill>
                <a:latin typeface="Aptos"/>
              </a:defRPr>
            </a:pPr>
            <a:r>
              <a:t>Business Management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3700" b="1" i="0">
                <a:solidFill>
                  <a:srgbClr val="FFFFFF"/>
                </a:solidFill>
                <a:latin typeface="Aptos"/>
              </a:defRPr>
            </a:pPr>
            <a:r>
              <a:t>&amp; CRM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3108960"/>
            <a:ext cx="71323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69E2D3"/>
                </a:solidFill>
                <a:latin typeface="Aptos"/>
              </a:defRPr>
            </a:pPr>
            <a:r>
              <a:t>with an Embedded AI Assistant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76656" y="3904487"/>
            <a:ext cx="5084064" cy="0"/>
          </a:xfrm>
          <a:prstGeom prst="line">
            <a:avLst/>
          </a:prstGeom>
          <a:ln w="19050">
            <a:solidFill>
              <a:srgbClr val="2E58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6656" y="4288536"/>
            <a:ext cx="67665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D9E6F2"/>
                </a:solidFill>
                <a:latin typeface="Aptos"/>
              </a:defRPr>
            </a:pPr>
            <a:r>
              <a:t>Aitzhan Iliyas   /   Aibek Galmbekov   /   Daniil Khvan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5074920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5AEBF"/>
                </a:solidFill>
                <a:latin typeface="Aptos"/>
              </a:defRPr>
            </a:pPr>
            <a:r>
              <a:t>Supervisor: Gulnur Shuteyeva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5AEBF"/>
                </a:solidFill>
                <a:latin typeface="Aptos"/>
              </a:defRPr>
            </a:pPr>
            <a:r>
              <a:t>Astana IT University · Software Engineering · SE-2417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83464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0B6A8"/>
                </a:solidFill>
                <a:latin typeface="Aptos"/>
              </a:defRPr>
            </a:pPr>
            <a:r>
              <a:t>PROBLEM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2243A"/>
                </a:solidFill>
                <a:latin typeface="Aptos"/>
              </a:defRPr>
            </a:pPr>
            <a:r>
              <a:t>Why this project?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14300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07186"/>
                </a:solidFill>
                <a:latin typeface="Aptos"/>
              </a:defRPr>
            </a:pPr>
            <a:r>
              <a:t>An engineering hypothesis that will be checked with real service-business users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91656"/>
            <a:ext cx="11155680" cy="0"/>
          </a:xfrm>
          <a:prstGeom prst="line">
            <a:avLst/>
          </a:prstGeom>
          <a:ln w="11430">
            <a:solidFill>
              <a:srgbClr val="DE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483096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BUSINESS MANAGEMENT + CRM  /  AITU SOFTWARE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28832" y="647395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673352"/>
            <a:ext cx="5349240" cy="15179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56232"/>
            <a:ext cx="59436" cy="365760"/>
          </a:xfrm>
          <a:prstGeom prst="rect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847088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2243A"/>
                </a:solidFill>
                <a:latin typeface="Aptos"/>
              </a:defRPr>
            </a:pPr>
            <a:r>
              <a:t>Fragmented client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295144"/>
            <a:ext cx="4800600" cy="7863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07186"/>
                </a:solidFill>
                <a:latin typeface="Aptos"/>
              </a:defRPr>
            </a:pPr>
            <a:r>
              <a:t>Customer profiles and inquiries may be stored in disconnected spreadsheets or tools.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08192" y="1673352"/>
            <a:ext cx="5349240" cy="15179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856232"/>
            <a:ext cx="59436" cy="365760"/>
          </a:xfrm>
          <a:prstGeom prst="rect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1847088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2243A"/>
                </a:solidFill>
                <a:latin typeface="Aptos"/>
              </a:defRPr>
            </a:pPr>
            <a:r>
              <a:t>Unlinked follow-ups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2295144"/>
            <a:ext cx="4800600" cy="7863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07186"/>
                </a:solidFill>
                <a:latin typeface="Aptos"/>
              </a:defRPr>
            </a:pPr>
            <a:r>
              <a:t>Deals, task assignments and service appointments can lose shared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" y="3401568"/>
            <a:ext cx="5349240" cy="15179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584448"/>
            <a:ext cx="59436" cy="365760"/>
          </a:xfrm>
          <a:prstGeom prst="rect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575304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2243A"/>
                </a:solidFill>
                <a:latin typeface="Aptos"/>
              </a:defRPr>
            </a:pPr>
            <a:r>
              <a:t>Booking conflicts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023360"/>
            <a:ext cx="4800600" cy="7863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07186"/>
                </a:solidFill>
                <a:latin typeface="Aptos"/>
              </a:defRPr>
            </a:pPr>
            <a:r>
              <a:t>Parallel scheduling needs a consistent server-side rule to prevent overlaps.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08192" y="3401568"/>
            <a:ext cx="5349240" cy="15179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584448"/>
            <a:ext cx="59436" cy="365760"/>
          </a:xfrm>
          <a:prstGeom prst="rect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3575304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2243A"/>
                </a:solidFill>
                <a:latin typeface="Aptos"/>
              </a:defRPr>
            </a:pPr>
            <a:r>
              <a:t>Uncontrolled AI 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1" y="4023360"/>
            <a:ext cx="4800600" cy="7863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07186"/>
                </a:solidFill>
                <a:latin typeface="Aptos"/>
              </a:defRPr>
            </a:pPr>
            <a:r>
              <a:t>Language-generated suggestions need permission checks and explicit confirmation.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496" y="5212080"/>
            <a:ext cx="10927080" cy="630936"/>
          </a:xfrm>
          <a:prstGeom prst="roundRect">
            <a:avLst>
              <a:gd name="adj" fmla="val 10000"/>
            </a:avLst>
          </a:prstGeom>
          <a:solidFill>
            <a:srgbClr val="FF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42239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9C692A"/>
                </a:solidFill>
                <a:latin typeface="Aptos"/>
              </a:defRPr>
            </a:pPr>
            <a:r>
              <a:t>RESEARCH 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33472" y="5404104"/>
            <a:ext cx="832104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845D2F"/>
                </a:solidFill>
                <a:latin typeface="Aptos"/>
              </a:defRPr>
            </a:pPr>
            <a:r>
              <a:t>These are hypotheses; authentic interviews/client evidence have not yet been supplied.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83464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0B6A8"/>
                </a:solidFill>
                <a:latin typeface="Aptos"/>
              </a:defRPr>
            </a:pPr>
            <a:r>
              <a:t>PRODUCT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2243A"/>
                </a:solidFill>
                <a:latin typeface="Aptos"/>
              </a:defRPr>
            </a:pPr>
            <a:r>
              <a:t>One coherent service-business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14300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07186"/>
                </a:solidFill>
                <a:latin typeface="Aptos"/>
              </a:defRPr>
            </a:pPr>
            <a:r>
              <a:t>Trace a client request through the organization, from intake to reporting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91656"/>
            <a:ext cx="11155680" cy="0"/>
          </a:xfrm>
          <a:prstGeom prst="line">
            <a:avLst/>
          </a:prstGeom>
          <a:ln w="11430">
            <a:solidFill>
              <a:srgbClr val="DE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483096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BUSINESS MANAGEMENT + CRM  /  AITU SOFTWARE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28832" y="647395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011680"/>
            <a:ext cx="1636776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2185416"/>
            <a:ext cx="393192" cy="393192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" y="2281428"/>
            <a:ext cx="23774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0B6A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770632"/>
            <a:ext cx="12527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2243A"/>
                </a:solidFill>
                <a:latin typeface="Aptos"/>
              </a:defRPr>
            </a:pPr>
            <a:r>
              <a:t>Inquiry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350008"/>
            <a:ext cx="23774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20B6A8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2011680"/>
            <a:ext cx="1636776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06624" y="2185416"/>
            <a:ext cx="393192" cy="393192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4348" y="2281428"/>
            <a:ext cx="23774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0B6A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770632"/>
            <a:ext cx="12527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2243A"/>
                </a:solidFill>
                <a:latin typeface="Aptos"/>
              </a:defRPr>
            </a:pPr>
            <a:r>
              <a:t>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2350008"/>
            <a:ext cx="23774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20B6A8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98848" y="2011680"/>
            <a:ext cx="1636776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5152" y="2185416"/>
            <a:ext cx="393192" cy="393192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22876" y="2281428"/>
            <a:ext cx="23774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0B6A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2770632"/>
            <a:ext cx="12527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2243A"/>
                </a:solidFill>
                <a:latin typeface="Aptos"/>
              </a:defRPr>
            </a:pPr>
            <a:r>
              <a:t>Deal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3056" y="2350008"/>
            <a:ext cx="23774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20B6A8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37376" y="2011680"/>
            <a:ext cx="1636776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83680" y="2185416"/>
            <a:ext cx="393192" cy="393192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61404" y="2281428"/>
            <a:ext cx="23774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0B6A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0256" y="2770632"/>
            <a:ext cx="12527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2243A"/>
                </a:solidFill>
                <a:latin typeface="Aptos"/>
              </a:defRPr>
            </a:pPr>
            <a:r>
              <a:t>Task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1583" y="2350008"/>
            <a:ext cx="23774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20B6A8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75904" y="2011680"/>
            <a:ext cx="1636776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22208" y="2185416"/>
            <a:ext cx="393192" cy="393192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9932" y="2281428"/>
            <a:ext cx="23774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0B6A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58784" y="2770632"/>
            <a:ext cx="12527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2243A"/>
                </a:solidFill>
                <a:latin typeface="Aptos"/>
              </a:defRPr>
            </a:pPr>
            <a:r>
              <a:t>Booking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40112" y="2350008"/>
            <a:ext cx="23774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20B6A8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314432" y="2011680"/>
            <a:ext cx="1636776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60736" y="2185416"/>
            <a:ext cx="393192" cy="393192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38460" y="2281428"/>
            <a:ext cx="23774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0B6A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97312" y="2770632"/>
            <a:ext cx="12527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2243A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07592" y="4014215"/>
            <a:ext cx="9582912" cy="1024128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36192" y="4325112"/>
            <a:ext cx="911656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FFFF"/>
                </a:solidFill>
                <a:latin typeface="Aptos"/>
              </a:defRPr>
            </a:pPr>
            <a:r>
              <a:t>AI assistant: draft → show exact changes → confirm → enforce server rules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" y="5596128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07186"/>
                </a:solidFill>
                <a:latin typeface="Aptos"/>
              </a:defRPr>
            </a:pPr>
            <a:r>
              <a:t>First design assumption: one service business, staff-facing web app; no customer mobile app in the MVP.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83464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0B6A8"/>
                </a:solidFill>
                <a:latin typeface="Aptos"/>
              </a:defRPr>
            </a:pPr>
            <a:r>
              <a:t>FUNCTIONAL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2243A"/>
                </a:solidFill>
                <a:latin typeface="Aptos"/>
              </a:defRPr>
            </a:pPr>
            <a:r>
              <a:t>Planned MVP: six connected capabilities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391656"/>
            <a:ext cx="11155680" cy="0"/>
          </a:xfrm>
          <a:prstGeom prst="line">
            <a:avLst/>
          </a:prstGeom>
          <a:ln w="11430">
            <a:solidFill>
              <a:srgbClr val="DE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483096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BUSINESS MANAGEMENT + CRM  /  AITU SOFTWARE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28832" y="647395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" y="1481328"/>
            <a:ext cx="3575304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22376" y="1664208"/>
            <a:ext cx="530352" cy="530352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847088"/>
            <a:ext cx="26517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0B6A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2331720"/>
            <a:ext cx="315468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2243A"/>
                </a:solidFill>
                <a:latin typeface="Aptos"/>
              </a:defRPr>
            </a:pPr>
            <a:r>
              <a:t>Clients &amp; notes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706624"/>
            <a:ext cx="31546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07186"/>
                </a:solidFill>
                <a:latin typeface="Aptos"/>
              </a:defRPr>
            </a:pPr>
            <a:r>
              <a:t>Create, search and update customer records.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481328"/>
            <a:ext cx="3575304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53712" y="1664208"/>
            <a:ext cx="530352" cy="530352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1847088"/>
            <a:ext cx="26517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0B6A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331720"/>
            <a:ext cx="315468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2243A"/>
                </a:solidFill>
                <a:latin typeface="Aptos"/>
              </a:defRPr>
            </a:pPr>
            <a:r>
              <a:t>Deal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706624"/>
            <a:ext cx="31546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07186"/>
                </a:solidFill>
                <a:latin typeface="Aptos"/>
              </a:defRPr>
            </a:pPr>
            <a:r>
              <a:t>Track opportunities, stages and owners.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2168" y="1481328"/>
            <a:ext cx="3575304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85048" y="1664208"/>
            <a:ext cx="530352" cy="530352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2208" y="1847088"/>
            <a:ext cx="26517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0B6A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3336" y="2331720"/>
            <a:ext cx="315468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2243A"/>
                </a:solidFill>
                <a:latin typeface="Aptos"/>
              </a:defRPr>
            </a:pPr>
            <a:r>
              <a:t>Tasks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6" y="2706624"/>
            <a:ext cx="31546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07186"/>
                </a:solidFill>
                <a:latin typeface="Aptos"/>
              </a:defRPr>
            </a:pPr>
            <a:r>
              <a:t>Assign follow-up work and due dates.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9496" y="3529584"/>
            <a:ext cx="3575304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22376" y="3712464"/>
            <a:ext cx="530352" cy="530352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3895344"/>
            <a:ext cx="26517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0B6A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" y="4379976"/>
            <a:ext cx="315468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2243A"/>
                </a:solidFill>
                <a:latin typeface="Aptos"/>
              </a:defRPr>
            </a:pPr>
            <a:r>
              <a:t>Service bookings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" y="4754880"/>
            <a:ext cx="31546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07186"/>
                </a:solidFill>
                <a:latin typeface="Aptos"/>
              </a:defRPr>
            </a:pPr>
            <a:r>
              <a:t>Select staff and reject conflicting time slots.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0832" y="3529584"/>
            <a:ext cx="3575304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53712" y="3712464"/>
            <a:ext cx="530352" cy="530352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90872" y="3895344"/>
            <a:ext cx="26517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0B6A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379976"/>
            <a:ext cx="315468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2243A"/>
                </a:solidFill>
                <a:latin typeface="Aptos"/>
              </a:defRPr>
            </a:pPr>
            <a:r>
              <a:t>Reports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754880"/>
            <a:ext cx="31546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07186"/>
                </a:solidFill>
                <a:latin typeface="Aptos"/>
              </a:defRPr>
            </a:pPr>
            <a:r>
              <a:t>Summarize counts and process outcomes.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02168" y="3529584"/>
            <a:ext cx="3575304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385048" y="3712464"/>
            <a:ext cx="530352" cy="530352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22208" y="3895344"/>
            <a:ext cx="26517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0B6A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3336" y="4379976"/>
            <a:ext cx="315468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2243A"/>
                </a:solidFill>
                <a:latin typeface="Aptos"/>
              </a:defRPr>
            </a:pPr>
            <a:r>
              <a:t>AI assistant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03336" y="4754880"/>
            <a:ext cx="31546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07186"/>
                </a:solidFill>
                <a:latin typeface="Aptos"/>
              </a:defRPr>
            </a:pPr>
            <a:r>
              <a:t>Prepare typed drafts; confirm safe actions.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83464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0B6A8"/>
                </a:solidFill>
                <a:latin typeface="Aptos"/>
              </a:defRPr>
            </a:pPr>
            <a:r>
              <a:t>SCOPE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2243A"/>
                </a:solidFill>
                <a:latin typeface="Aptos"/>
              </a:defRPr>
            </a:pPr>
            <a:r>
              <a:t>A strict MVP keeps the project achievable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391656"/>
            <a:ext cx="11155680" cy="0"/>
          </a:xfrm>
          <a:prstGeom prst="line">
            <a:avLst/>
          </a:prstGeom>
          <a:ln w="11430">
            <a:solidFill>
              <a:srgbClr val="DE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483096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BUSINESS MANAGEMENT + CRM  /  AITU SOFTWARE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28832" y="647395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17320"/>
            <a:ext cx="5376672" cy="43159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08776" y="1417320"/>
            <a:ext cx="5376672" cy="43159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1691640"/>
            <a:ext cx="1316736" cy="338328"/>
          </a:xfrm>
          <a:prstGeom prst="roundRect">
            <a:avLst>
              <a:gd name="adj" fmla="val 15000"/>
            </a:avLst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75564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0B6A8"/>
                </a:solidFill>
                <a:latin typeface="Aptos"/>
              </a:defRPr>
            </a:pPr>
            <a:r>
              <a:t>IN 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73952" y="1691640"/>
            <a:ext cx="1764792" cy="338328"/>
          </a:xfrm>
          <a:prstGeom prst="roundRect">
            <a:avLst>
              <a:gd name="adj" fmla="val 15000"/>
            </a:avLst>
          </a:prstGeom>
          <a:solidFill>
            <a:srgbClr val="FF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755648"/>
            <a:ext cx="15453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9C692A"/>
                </a:solidFill>
                <a:latin typeface="Aptos"/>
              </a:defRPr>
            </a:pPr>
            <a:r>
              <a:t>OUT OF SCOPE</a:t>
            </a:r>
          </a:p>
        </p:txBody>
      </p:sp>
      <p:sp>
        <p:nvSpPr>
          <p:cNvPr id="15" name="Oval 14"/>
          <p:cNvSpPr/>
          <p:nvPr/>
        </p:nvSpPr>
        <p:spPr>
          <a:xfrm>
            <a:off x="877824" y="2286000"/>
            <a:ext cx="182880" cy="182880"/>
          </a:xfrm>
          <a:prstGeom prst="ellipse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913" y="2299716"/>
            <a:ext cx="137160" cy="100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7864" y="2258568"/>
            <a:ext cx="4471416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2243A"/>
                </a:solidFill>
                <a:latin typeface="Aptos"/>
              </a:defRPr>
            </a:pPr>
            <a:r>
              <a:t>Role-based staff access</a:t>
            </a:r>
          </a:p>
        </p:txBody>
      </p:sp>
      <p:sp>
        <p:nvSpPr>
          <p:cNvPr id="18" name="Oval 17"/>
          <p:cNvSpPr/>
          <p:nvPr/>
        </p:nvSpPr>
        <p:spPr>
          <a:xfrm>
            <a:off x="877824" y="2852928"/>
            <a:ext cx="182880" cy="182880"/>
          </a:xfrm>
          <a:prstGeom prst="ellipse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913" y="2866644"/>
            <a:ext cx="137160" cy="100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7864" y="2825496"/>
            <a:ext cx="4471416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2243A"/>
                </a:solidFill>
                <a:latin typeface="Aptos"/>
              </a:defRPr>
            </a:pPr>
            <a:r>
              <a:t>Clients, deals, tasks and appointments</a:t>
            </a:r>
          </a:p>
        </p:txBody>
      </p:sp>
      <p:sp>
        <p:nvSpPr>
          <p:cNvPr id="21" name="Oval 20"/>
          <p:cNvSpPr/>
          <p:nvPr/>
        </p:nvSpPr>
        <p:spPr>
          <a:xfrm>
            <a:off x="877824" y="3419856"/>
            <a:ext cx="182880" cy="182880"/>
          </a:xfrm>
          <a:prstGeom prst="ellipse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" y="3433572"/>
            <a:ext cx="137160" cy="100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7864" y="3392424"/>
            <a:ext cx="4471416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2243A"/>
                </a:solidFill>
                <a:latin typeface="Aptos"/>
              </a:defRPr>
            </a:pPr>
            <a:r>
              <a:t>Basic reports and activity history</a:t>
            </a:r>
          </a:p>
        </p:txBody>
      </p:sp>
      <p:sp>
        <p:nvSpPr>
          <p:cNvPr id="24" name="Oval 23"/>
          <p:cNvSpPr/>
          <p:nvPr/>
        </p:nvSpPr>
        <p:spPr>
          <a:xfrm>
            <a:off x="877824" y="3986783"/>
            <a:ext cx="182880" cy="182880"/>
          </a:xfrm>
          <a:prstGeom prst="ellipse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8913" y="4000500"/>
            <a:ext cx="137160" cy="100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97864" y="3959352"/>
            <a:ext cx="4471416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2243A"/>
                </a:solidFill>
                <a:latin typeface="Aptos"/>
              </a:defRPr>
            </a:pPr>
            <a:r>
              <a:t>AI action preview and confirmation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" y="4553712"/>
            <a:ext cx="182880" cy="182880"/>
          </a:xfrm>
          <a:prstGeom prst="ellipse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8913" y="4567428"/>
            <a:ext cx="137160" cy="100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97864" y="4526280"/>
            <a:ext cx="4471416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2243A"/>
                </a:solidFill>
                <a:latin typeface="Aptos"/>
              </a:defRPr>
            </a:pPr>
            <a:r>
              <a:t>Transactional booking constraints</a:t>
            </a:r>
          </a:p>
        </p:txBody>
      </p:sp>
      <p:sp>
        <p:nvSpPr>
          <p:cNvPr id="30" name="Oval 29"/>
          <p:cNvSpPr/>
          <p:nvPr/>
        </p:nvSpPr>
        <p:spPr>
          <a:xfrm>
            <a:off x="6556248" y="2286000"/>
            <a:ext cx="182880" cy="182880"/>
          </a:xfrm>
          <a:prstGeom prst="ellipse">
            <a:avLst/>
          </a:prstGeom>
          <a:solidFill>
            <a:srgbClr val="FF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7454" y="2295144"/>
            <a:ext cx="109728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9C692A"/>
                </a:solidFill>
                <a:latin typeface="Aptos"/>
              </a:defRPr>
            </a:pPr>
            <a:r>
              <a:t>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85432" y="2258568"/>
            <a:ext cx="4507992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2243A"/>
                </a:solidFill>
                <a:latin typeface="Aptos"/>
              </a:defRPr>
            </a:pPr>
            <a:r>
              <a:t>Payroll, accounting, payment processing</a:t>
            </a:r>
          </a:p>
        </p:txBody>
      </p:sp>
      <p:sp>
        <p:nvSpPr>
          <p:cNvPr id="33" name="Oval 32"/>
          <p:cNvSpPr/>
          <p:nvPr/>
        </p:nvSpPr>
        <p:spPr>
          <a:xfrm>
            <a:off x="6556248" y="2852928"/>
            <a:ext cx="182880" cy="182880"/>
          </a:xfrm>
          <a:prstGeom prst="ellipse">
            <a:avLst/>
          </a:prstGeom>
          <a:solidFill>
            <a:srgbClr val="FF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7454" y="2862072"/>
            <a:ext cx="109728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9C692A"/>
                </a:solidFill>
                <a:latin typeface="Aptos"/>
              </a:defRPr>
            </a:pPr>
            <a:r>
              <a:t>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85432" y="2825496"/>
            <a:ext cx="4507992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2243A"/>
                </a:solidFill>
                <a:latin typeface="Aptos"/>
              </a:defRPr>
            </a:pPr>
            <a:r>
              <a:t>Full multi-branch ERP and mobile apps</a:t>
            </a:r>
          </a:p>
        </p:txBody>
      </p:sp>
      <p:sp>
        <p:nvSpPr>
          <p:cNvPr id="36" name="Oval 35"/>
          <p:cNvSpPr/>
          <p:nvPr/>
        </p:nvSpPr>
        <p:spPr>
          <a:xfrm>
            <a:off x="6556248" y="3419856"/>
            <a:ext cx="182880" cy="182880"/>
          </a:xfrm>
          <a:prstGeom prst="ellipse">
            <a:avLst/>
          </a:prstGeom>
          <a:solidFill>
            <a:srgbClr val="FF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07454" y="3429000"/>
            <a:ext cx="109728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9C692A"/>
                </a:solidFill>
                <a:latin typeface="Aptos"/>
              </a:defRPr>
            </a:pPr>
            <a:r>
              <a:t>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85432" y="3392424"/>
            <a:ext cx="4507992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2243A"/>
                </a:solidFill>
                <a:latin typeface="Aptos"/>
              </a:defRPr>
            </a:pPr>
            <a:r>
              <a:t>Autonomous customer messaging</a:t>
            </a:r>
          </a:p>
        </p:txBody>
      </p:sp>
      <p:sp>
        <p:nvSpPr>
          <p:cNvPr id="39" name="Oval 38"/>
          <p:cNvSpPr/>
          <p:nvPr/>
        </p:nvSpPr>
        <p:spPr>
          <a:xfrm>
            <a:off x="6556248" y="3986783"/>
            <a:ext cx="182880" cy="182880"/>
          </a:xfrm>
          <a:prstGeom prst="ellipse">
            <a:avLst/>
          </a:prstGeom>
          <a:solidFill>
            <a:srgbClr val="FF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7454" y="3995927"/>
            <a:ext cx="109728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9C692A"/>
                </a:solidFill>
                <a:latin typeface="Aptos"/>
              </a:defRPr>
            </a:pPr>
            <a:r>
              <a:t>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85432" y="3959352"/>
            <a:ext cx="4507992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2243A"/>
                </a:solidFill>
                <a:latin typeface="Aptos"/>
              </a:defRPr>
            </a:pPr>
            <a:r>
              <a:t>Unreviewed AI database writes</a:t>
            </a:r>
          </a:p>
        </p:txBody>
      </p:sp>
      <p:sp>
        <p:nvSpPr>
          <p:cNvPr id="42" name="Oval 41"/>
          <p:cNvSpPr/>
          <p:nvPr/>
        </p:nvSpPr>
        <p:spPr>
          <a:xfrm>
            <a:off x="6556248" y="4553712"/>
            <a:ext cx="182880" cy="182880"/>
          </a:xfrm>
          <a:prstGeom prst="ellipse">
            <a:avLst/>
          </a:prstGeom>
          <a:solidFill>
            <a:srgbClr val="FF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07454" y="4562856"/>
            <a:ext cx="109728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9C692A"/>
                </a:solidFill>
                <a:latin typeface="Aptos"/>
              </a:defRPr>
            </a:pPr>
            <a:r>
              <a:t>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85432" y="4526280"/>
            <a:ext cx="4507992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2243A"/>
                </a:solidFill>
                <a:latin typeface="Aptos"/>
              </a:defRPr>
            </a:pPr>
            <a:r>
              <a:t>Enterprise-scale rollout commitments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83464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0B6A8"/>
                </a:solidFill>
                <a:latin typeface="Aptos"/>
              </a:defRPr>
            </a:pPr>
            <a:r>
              <a:t>EVIDENCE OF RELEVANCE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2243A"/>
                </a:solidFill>
                <a:latin typeface="Aptos"/>
              </a:defRPr>
            </a:pPr>
            <a:r>
              <a:t>Validation: document real user needs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14300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07186"/>
                </a:solidFill>
                <a:latin typeface="Aptos"/>
              </a:defRPr>
            </a:pPr>
            <a:r>
              <a:t>University requirement: 3–5 discussions or one substantive real-client agreement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91656"/>
            <a:ext cx="11155680" cy="0"/>
          </a:xfrm>
          <a:prstGeom prst="line">
            <a:avLst/>
          </a:prstGeom>
          <a:ln w="11430">
            <a:solidFill>
              <a:srgbClr val="DE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483096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BUSINESS MANAGEMENT + CRM  /  AITU SOFTWARE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28832" y="647395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01368"/>
            <a:ext cx="2660904" cy="22128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99339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20B6A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06040"/>
            <a:ext cx="230428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12243A"/>
                </a:solidFill>
                <a:latin typeface="Aptos"/>
              </a:defRPr>
            </a:pPr>
            <a:r>
              <a:t>Recruit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108960"/>
            <a:ext cx="2276856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07186"/>
                </a:solidFill>
                <a:latin typeface="Aptos"/>
              </a:defRPr>
            </a:pPr>
            <a:r>
              <a:t>Owners, managers, scheduling staff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47872" y="1801368"/>
            <a:ext cx="2660904" cy="22128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0752" y="199339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20B6A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2606040"/>
            <a:ext cx="230428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12243A"/>
                </a:solidFill>
                <a:latin typeface="Aptos"/>
              </a:defRPr>
            </a:pPr>
            <a:r>
              <a:t>Discuss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3108960"/>
            <a:ext cx="2276856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07186"/>
                </a:solidFill>
                <a:latin typeface="Aptos"/>
              </a:defRPr>
            </a:pPr>
            <a:r>
              <a:t>Current tools, delays, conflicts and exceptions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55664" y="1801368"/>
            <a:ext cx="2660904" cy="22128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38544" y="199339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20B6A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544" y="2606040"/>
            <a:ext cx="230428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12243A"/>
                </a:solidFill>
                <a:latin typeface="Aptos"/>
              </a:defRPr>
            </a:pPr>
            <a:r>
              <a:t>Record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3108960"/>
            <a:ext cx="2276856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07186"/>
                </a:solidFill>
                <a:latin typeface="Aptos"/>
              </a:defRPr>
            </a:pPr>
            <a:r>
              <a:t>Consent, dated notes, anonymized quotations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63456" y="1801368"/>
            <a:ext cx="2660904" cy="22128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46336" y="199339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20B6A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46336" y="2606040"/>
            <a:ext cx="230428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12243A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46336" y="3108960"/>
            <a:ext cx="2276856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07186"/>
                </a:solidFill>
                <a:latin typeface="Aptos"/>
              </a:defRPr>
            </a:pPr>
            <a:r>
              <a:t>Distinguish observed needs from our hypotheses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" y="4608576"/>
            <a:ext cx="10890504" cy="704088"/>
          </a:xfrm>
          <a:prstGeom prst="roundRect">
            <a:avLst>
              <a:gd name="adj" fmla="val 10000"/>
            </a:avLst>
          </a:prstGeom>
          <a:solidFill>
            <a:srgbClr val="FF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48280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8E622C"/>
                </a:solidFill>
                <a:latin typeface="Aptos"/>
              </a:defRPr>
            </a:pPr>
            <a:r>
              <a:t>NOT YET VERIFIED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91256" y="4800600"/>
            <a:ext cx="798271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8E622C"/>
                </a:solidFill>
                <a:latin typeface="Aptos"/>
              </a:defRPr>
            </a:pPr>
            <a:r>
              <a:t>Templates prepared; real interviews or client confirmation must be collected by the team.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83464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0B6A8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2243A"/>
                </a:solidFill>
                <a:latin typeface="Aptos"/>
              </a:defRPr>
            </a:pPr>
            <a:r>
              <a:t>13 scholarly publications inform the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14300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07186"/>
                </a:solidFill>
                <a:latin typeface="Aptos"/>
              </a:defRPr>
            </a:pPr>
            <a:r>
              <a:t>12 publications (2021–24) plus one foundational reference (2020)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91656"/>
            <a:ext cx="11155680" cy="0"/>
          </a:xfrm>
          <a:prstGeom prst="line">
            <a:avLst/>
          </a:prstGeom>
          <a:ln w="11430">
            <a:solidFill>
              <a:srgbClr val="DE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483096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BUSINESS MANAGEMENT + CRM  /  AITU SOFTWARE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28832" y="647395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1517904"/>
            <a:ext cx="5394960" cy="17739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719072"/>
            <a:ext cx="64008" cy="1280160"/>
          </a:xfrm>
          <a:prstGeom prst="rect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719072"/>
            <a:ext cx="46177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2243A"/>
                </a:solidFill>
                <a:latin typeface="Aptos"/>
              </a:defRPr>
            </a:pPr>
            <a:r>
              <a:t>Customer 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185415"/>
            <a:ext cx="463600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07186"/>
                </a:solidFill>
                <a:latin typeface="Aptos"/>
              </a:defRPr>
            </a:pPr>
            <a:r>
              <a:t>AI in marketing and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825496"/>
            <a:ext cx="46817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0B6A8"/>
                </a:solidFill>
                <a:latin typeface="Aptos"/>
              </a:defRPr>
            </a:pPr>
            <a:r>
              <a:t>Huang &amp; Rust · Ferraro et 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517904"/>
            <a:ext cx="5394960" cy="17739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64808" y="1719072"/>
            <a:ext cx="64008" cy="1280160"/>
          </a:xfrm>
          <a:prstGeom prst="rect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84264" y="1719072"/>
            <a:ext cx="46177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2243A"/>
                </a:solidFill>
                <a:latin typeface="Aptos"/>
              </a:defRPr>
            </a:pPr>
            <a:r>
              <a:t>Tool-using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4264" y="2185415"/>
            <a:ext cx="463600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07186"/>
                </a:solidFill>
                <a:latin typeface="Aptos"/>
              </a:defRPr>
            </a:pPr>
            <a:r>
              <a:t>ReAct, Toolformer, ToolLLM, API-Bank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4264" y="2825496"/>
            <a:ext cx="46817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0B6A8"/>
                </a:solidFill>
                <a:latin typeface="Aptos"/>
              </a:defRPr>
            </a:pPr>
            <a:r>
              <a:t>Yao · Schick · Qin · Li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" y="3566160"/>
            <a:ext cx="5394960" cy="17739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" y="3767328"/>
            <a:ext cx="64008" cy="1280160"/>
          </a:xfrm>
          <a:prstGeom prst="rect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3767328"/>
            <a:ext cx="46177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2243A"/>
                </a:solidFill>
                <a:latin typeface="Aptos"/>
              </a:defRPr>
            </a:pPr>
            <a:r>
              <a:t>Failures &amp;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4233672"/>
            <a:ext cx="463600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07186"/>
                </a:solidFill>
                <a:latin typeface="Aptos"/>
              </a:defRPr>
            </a:pPr>
            <a:r>
              <a:t>Prompt injection, lost context, 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4873752"/>
            <a:ext cx="46817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0B6A8"/>
                </a:solidFill>
                <a:latin typeface="Aptos"/>
              </a:defRPr>
            </a:pPr>
            <a:r>
              <a:t>Greshake · Liu · AgentBench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3566160"/>
            <a:ext cx="5394960" cy="17739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64808" y="3767328"/>
            <a:ext cx="64008" cy="1280160"/>
          </a:xfrm>
          <a:prstGeom prst="rect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84264" y="3767328"/>
            <a:ext cx="46177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2243A"/>
                </a:solidFill>
                <a:latin typeface="Aptos"/>
              </a:defRPr>
            </a:pPr>
            <a:r>
              <a:t>Controlled implementation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84264" y="4233672"/>
            <a:ext cx="463600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07186"/>
                </a:solidFill>
                <a:latin typeface="Aptos"/>
              </a:defRPr>
            </a:pPr>
            <a:r>
              <a:t>Augmented models, feedback, retrieval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4264" y="4873752"/>
            <a:ext cx="46817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0B6A8"/>
                </a:solidFill>
                <a:latin typeface="Aptos"/>
              </a:defRPr>
            </a:pPr>
            <a:r>
              <a:t>Mialon · Shinn · Lewis · Wei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83464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0B6A8"/>
                </a:solidFill>
                <a:latin typeface="Aptos"/>
              </a:defRPr>
            </a:pPr>
            <a:r>
              <a:t>EXISTING-SYSTEM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2243A"/>
                </a:solidFill>
                <a:latin typeface="Aptos"/>
              </a:defRPr>
            </a:pPr>
            <a:r>
              <a:t>Existing systems: compare, do not dismiss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14300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07186"/>
                </a:solidFill>
                <a:latin typeface="Aptos"/>
              </a:defRPr>
            </a:pPr>
            <a:r>
              <a:t>Four vendors assessed against nine documented criteria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91656"/>
            <a:ext cx="11155680" cy="0"/>
          </a:xfrm>
          <a:prstGeom prst="line">
            <a:avLst/>
          </a:prstGeom>
          <a:ln w="11430">
            <a:solidFill>
              <a:srgbClr val="DE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483096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BUSINESS MANAGEMENT + CRM  /  AITU SOFTWARE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28832" y="647395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618488"/>
            <a:ext cx="5468112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737360"/>
            <a:ext cx="14813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2243A"/>
                </a:solidFill>
                <a:latin typeface="Aptos"/>
              </a:defRPr>
            </a:pPr>
            <a:r>
              <a:t>HubSpot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9424" y="1746504"/>
            <a:ext cx="36118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07186"/>
                </a:solidFill>
                <a:latin typeface="Aptos"/>
              </a:defRPr>
            </a:pPr>
            <a:r>
              <a:t>Broad CRM, sales, meeting and AI functionality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2651760"/>
            <a:ext cx="5468112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770632"/>
            <a:ext cx="14813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2243A"/>
                </a:solidFill>
                <a:latin typeface="Aptos"/>
              </a:defRPr>
            </a:pPr>
            <a:r>
              <a:t>Zoho CRM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9424" y="2779776"/>
            <a:ext cx="36118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07186"/>
                </a:solidFill>
                <a:latin typeface="Aptos"/>
              </a:defRPr>
            </a:pPr>
            <a:r>
              <a:t>CRM and Zia intelligent-assistance features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685031"/>
            <a:ext cx="5468112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803903"/>
            <a:ext cx="14813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2243A"/>
                </a:solidFill>
                <a:latin typeface="Aptos"/>
              </a:defRPr>
            </a:pPr>
            <a:r>
              <a:t>Pipedrive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9424" y="3813047"/>
            <a:ext cx="36118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07186"/>
                </a:solidFill>
                <a:latin typeface="Aptos"/>
              </a:defRPr>
            </a:pPr>
            <a:r>
              <a:t>Pipeline and activity scheduling, with conflict avoidance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4718304"/>
            <a:ext cx="5468112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837176"/>
            <a:ext cx="14813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2243A"/>
                </a:solidFill>
                <a:latin typeface="Aptos"/>
              </a:defRPr>
            </a:pPr>
            <a:r>
              <a:t>Bitrix24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9424" y="4846320"/>
            <a:ext cx="36118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07186"/>
                </a:solidFill>
                <a:latin typeface="Aptos"/>
              </a:defRPr>
            </a:pPr>
            <a:r>
              <a:t>CRM + tasks, calendars, analytics and CoPilot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64224" y="1627632"/>
            <a:ext cx="5074920" cy="3977639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1920240"/>
            <a:ext cx="4498848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FFFFFF"/>
                </a:solidFill>
                <a:latin typeface="Aptos"/>
              </a:defRPr>
            </a:pPr>
            <a:r>
              <a:t>Our engineering focus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7688" y="2633472"/>
            <a:ext cx="54864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66E0D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1775" y="2615184"/>
            <a:ext cx="3758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End-to-end traceability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1775" y="289864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9BBCD"/>
                </a:solidFill>
                <a:latin typeface="Aptos"/>
              </a:defRPr>
            </a:pPr>
            <a:r>
              <a:t>A request, task and booking are linked.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7688" y="3474720"/>
            <a:ext cx="54864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66E0D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51775" y="3456432"/>
            <a:ext cx="3758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Testable constraints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1775" y="373989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9BBCD"/>
                </a:solidFill>
                <a:latin typeface="Aptos"/>
              </a:defRPr>
            </a:pPr>
            <a:r>
              <a:t>No accepted overlapping confirmed bookings.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7688" y="4315968"/>
            <a:ext cx="54864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66E0D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1775" y="4297680"/>
            <a:ext cx="3758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Auditable AI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51775" y="458114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9BBCD"/>
                </a:solidFill>
                <a:latin typeface="Aptos"/>
              </a:defRPr>
            </a:pPr>
            <a:r>
              <a:t>Draft, approval and server-side checks.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83464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0B6A8"/>
                </a:solidFill>
                <a:latin typeface="Aptos"/>
              </a:defRPr>
            </a:pPr>
            <a:r>
              <a:t>TECHNOLOGY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2243A"/>
                </a:solidFill>
                <a:latin typeface="Aptos"/>
              </a:defRPr>
            </a:pPr>
            <a:r>
              <a:t>Technology decisions: compare the alternatives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14300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07186"/>
                </a:solidFill>
                <a:latin typeface="Aptos"/>
              </a:defRPr>
            </a:pPr>
            <a:r>
              <a:t>Selections are justified design proposals, not benchmark results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91656"/>
            <a:ext cx="11155680" cy="0"/>
          </a:xfrm>
          <a:prstGeom prst="line">
            <a:avLst/>
          </a:prstGeom>
          <a:ln w="11430">
            <a:solidFill>
              <a:srgbClr val="DE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483096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BUSINESS MANAGEMENT + CRM  /  AITU SOFTWARE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28832" y="647395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5336"/>
            <a:ext cx="10945368" cy="6675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82495"/>
            <a:ext cx="18653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2243A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25496" y="1673352"/>
            <a:ext cx="2953512" cy="338328"/>
          </a:xfrm>
          <a:prstGeom prst="roundRect">
            <a:avLst>
              <a:gd name="adj" fmla="val 15000"/>
            </a:avLst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35224" y="1737360"/>
            <a:ext cx="27340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0B6A8"/>
                </a:solidFill>
                <a:latin typeface="Aptos"/>
              </a:defRPr>
            </a:pPr>
            <a:r>
              <a:t>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4184" y="1682495"/>
            <a:ext cx="51389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07186"/>
                </a:solidFill>
                <a:latin typeface="Aptos"/>
              </a:defRPr>
            </a:pPr>
            <a:r>
              <a:t>NestJS · Spring Boot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359152"/>
            <a:ext cx="10945368" cy="6675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496312"/>
            <a:ext cx="18653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2243A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25496" y="2487168"/>
            <a:ext cx="2953512" cy="338328"/>
          </a:xfrm>
          <a:prstGeom prst="roundRect">
            <a:avLst>
              <a:gd name="adj" fmla="val 15000"/>
            </a:avLst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35224" y="2551176"/>
            <a:ext cx="27340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0B6A8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4184" y="2496312"/>
            <a:ext cx="51389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07186"/>
                </a:solidFill>
                <a:latin typeface="Aptos"/>
              </a:defRPr>
            </a:pPr>
            <a:r>
              <a:t>MySQL · MongoDB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172968"/>
            <a:ext cx="10945368" cy="6675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310127"/>
            <a:ext cx="18653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2243A"/>
                </a:solidFill>
                <a:latin typeface="Aptos"/>
              </a:defRPr>
            </a:pPr>
            <a:r>
              <a:t>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25496" y="3300984"/>
            <a:ext cx="2953512" cy="338328"/>
          </a:xfrm>
          <a:prstGeom prst="roundRect">
            <a:avLst>
              <a:gd name="adj" fmla="val 15000"/>
            </a:avLst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35224" y="3364991"/>
            <a:ext cx="27340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0B6A8"/>
                </a:solidFill>
                <a:latin typeface="Aptos"/>
              </a:defRPr>
            </a:pPr>
            <a:r>
              <a:t>REST + OpenAPI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44184" y="3310127"/>
            <a:ext cx="51389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07186"/>
                </a:solidFill>
                <a:latin typeface="Aptos"/>
              </a:defRPr>
            </a:pPr>
            <a:r>
              <a:t>GraphQL · gRPC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86783"/>
            <a:ext cx="10945368" cy="6675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123944"/>
            <a:ext cx="18653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2243A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25496" y="4114799"/>
            <a:ext cx="2953512" cy="338328"/>
          </a:xfrm>
          <a:prstGeom prst="roundRect">
            <a:avLst>
              <a:gd name="adj" fmla="val 15000"/>
            </a:avLst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35224" y="4178807"/>
            <a:ext cx="27340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0B6A8"/>
                </a:solidFill>
                <a:latin typeface="Aptos"/>
              </a:defRPr>
            </a:pPr>
            <a:r>
              <a:t>React + TypeScript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44184" y="4123944"/>
            <a:ext cx="51389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07186"/>
                </a:solidFill>
                <a:latin typeface="Aptos"/>
              </a:defRPr>
            </a:pPr>
            <a:r>
              <a:t>Vue · Angular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800600"/>
            <a:ext cx="10945368" cy="6675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937760"/>
            <a:ext cx="18653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2243A"/>
                </a:solidFill>
                <a:latin typeface="Aptos"/>
              </a:defRPr>
            </a:pPr>
            <a:r>
              <a:t>AI operations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25496" y="4928616"/>
            <a:ext cx="2953512" cy="338328"/>
          </a:xfrm>
          <a:prstGeom prst="roundRect">
            <a:avLst>
              <a:gd name="adj" fmla="val 15000"/>
            </a:avLst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35224" y="4992624"/>
            <a:ext cx="27340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0B6A8"/>
                </a:solidFill>
                <a:latin typeface="Aptos"/>
              </a:defRPr>
            </a:pPr>
            <a:r>
              <a:t>Typed proposal +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44184" y="4937760"/>
            <a:ext cx="51389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07186"/>
                </a:solidFill>
                <a:latin typeface="Aptos"/>
              </a:defRPr>
            </a:pPr>
            <a:r>
              <a:t>Rule-based · direct LLM execution¹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870448"/>
            <a:ext cx="10927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07186"/>
                </a:solidFill>
                <a:latin typeface="Aptos"/>
              </a:defRPr>
            </a:pPr>
            <a:r>
              <a:t>¹ Direct model-to-database execution considered and rejected for security; not a proposed implementation.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83464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0B6A8"/>
                </a:solidFill>
                <a:latin typeface="Aptos"/>
              </a:defRPr>
            </a:pPr>
            <a:r>
              <a:t>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2243A"/>
                </a:solidFill>
                <a:latin typeface="Aptos"/>
              </a:defRPr>
            </a:pPr>
            <a:r>
              <a:t>Requirements are measurable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14300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07186"/>
                </a:solidFill>
                <a:latin typeface="Aptos"/>
              </a:defRPr>
            </a:pPr>
            <a:r>
              <a:t>22 functional requirements + 12 non-functional requirements with priorities and acceptance criteria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91656"/>
            <a:ext cx="11155680" cy="0"/>
          </a:xfrm>
          <a:prstGeom prst="line">
            <a:avLst/>
          </a:prstGeom>
          <a:ln w="11430">
            <a:solidFill>
              <a:srgbClr val="DE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483096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BUSINESS MANAGEMENT + CRM  /  AITU SOFTWARE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28832" y="647395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490472"/>
            <a:ext cx="1096365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3816" y="1645919"/>
            <a:ext cx="1060704" cy="393192"/>
          </a:xfrm>
          <a:prstGeom prst="roundRect">
            <a:avLst>
              <a:gd name="adj" fmla="val 10000"/>
            </a:avLst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728216"/>
            <a:ext cx="8961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20B6A8"/>
                </a:solidFill>
                <a:latin typeface="Aptos"/>
              </a:defRPr>
            </a:pPr>
            <a:r>
              <a:t>FR-07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5688" y="1682495"/>
            <a:ext cx="244144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2243A"/>
                </a:solidFill>
                <a:latin typeface="Aptos"/>
              </a:defRPr>
            </a:pPr>
            <a:r>
              <a:t>Book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645919"/>
            <a:ext cx="65379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07186"/>
                </a:solidFill>
                <a:latin typeface="Aptos"/>
              </a:defRPr>
            </a:pPr>
            <a:r>
              <a:t>A valid free slot persists with staff, service and client links.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2350008"/>
            <a:ext cx="1096365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" y="2505456"/>
            <a:ext cx="1060704" cy="393192"/>
          </a:xfrm>
          <a:prstGeom prst="roundRect">
            <a:avLst>
              <a:gd name="adj" fmla="val 10000"/>
            </a:avLst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2587752"/>
            <a:ext cx="8961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20B6A8"/>
                </a:solidFill>
                <a:latin typeface="Aptos"/>
              </a:defRPr>
            </a:pPr>
            <a:r>
              <a:t>FR-08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75688" y="2542032"/>
            <a:ext cx="244144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2243A"/>
                </a:solidFill>
                <a:latin typeface="Aptos"/>
              </a:defRPr>
            </a:pPr>
            <a:r>
              <a:t>Prevent collisions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505456"/>
            <a:ext cx="65379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07186"/>
                </a:solidFill>
                <a:latin typeface="Aptos"/>
              </a:defRPr>
            </a:pPr>
            <a:r>
              <a:t>Concurrent overlapping confirmations never create two accepted bookings.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3209544"/>
            <a:ext cx="1096365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3816" y="3364991"/>
            <a:ext cx="1060704" cy="393192"/>
          </a:xfrm>
          <a:prstGeom prst="roundRect">
            <a:avLst>
              <a:gd name="adj" fmla="val 10000"/>
            </a:avLst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" y="3447287"/>
            <a:ext cx="8961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20B6A8"/>
                </a:solidFill>
                <a:latin typeface="Aptos"/>
              </a:defRPr>
            </a:pPr>
            <a:r>
              <a:t>FR-12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75688" y="3401568"/>
            <a:ext cx="244144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2243A"/>
                </a:solidFill>
                <a:latin typeface="Aptos"/>
              </a:defRPr>
            </a:pPr>
            <a:r>
              <a:t>AI proposal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364991"/>
            <a:ext cx="65379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07186"/>
                </a:solidFill>
                <a:latin typeface="Aptos"/>
              </a:defRPr>
            </a:pPr>
            <a:r>
              <a:t>Natural-language request produces a preview; database is unchanged.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" y="4069079"/>
            <a:ext cx="1096365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3816" y="4224527"/>
            <a:ext cx="1060704" cy="393192"/>
          </a:xfrm>
          <a:prstGeom prst="roundRect">
            <a:avLst>
              <a:gd name="adj" fmla="val 10000"/>
            </a:avLst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4306823"/>
            <a:ext cx="8961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20B6A8"/>
                </a:solidFill>
                <a:latin typeface="Aptos"/>
              </a:defRPr>
            </a:pPr>
            <a:r>
              <a:t>FR-14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75688" y="4261103"/>
            <a:ext cx="244144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2243A"/>
                </a:solidFill>
                <a:latin typeface="Aptos"/>
              </a:defRPr>
            </a:pPr>
            <a:r>
              <a:t>Confirm AI 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224527"/>
            <a:ext cx="65379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07186"/>
                </a:solidFill>
                <a:latin typeface="Aptos"/>
              </a:defRPr>
            </a:pPr>
            <a:r>
              <a:t>Revalidate role and business rules before any mutation.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" y="4928616"/>
            <a:ext cx="1096365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3816" y="5084064"/>
            <a:ext cx="1060704" cy="393192"/>
          </a:xfrm>
          <a:prstGeom prst="roundRect">
            <a:avLst>
              <a:gd name="adj" fmla="val 10000"/>
            </a:avLst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5166359"/>
            <a:ext cx="8961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20B6A8"/>
                </a:solidFill>
                <a:latin typeface="Aptos"/>
              </a:defRPr>
            </a:pPr>
            <a:r>
              <a:t>NFR-01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75688" y="5120640"/>
            <a:ext cx="244144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2243A"/>
                </a:solidFill>
                <a:latin typeface="Aptos"/>
              </a:defRPr>
            </a:pPr>
            <a:r>
              <a:t>Authorization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5084064"/>
            <a:ext cx="65379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07186"/>
                </a:solidFill>
                <a:latin typeface="Aptos"/>
              </a:defRPr>
            </a:pPr>
            <a:r>
              <a:t>All protected operations deny unauthorized changes.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83464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0B6A8"/>
                </a:solidFill>
                <a:latin typeface="Aptos"/>
              </a:defRPr>
            </a:pPr>
            <a:r>
              <a:t>ARCHITECTURE · VIEW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2243A"/>
                </a:solidFill>
                <a:latin typeface="Aptos"/>
              </a:defRPr>
            </a:pPr>
            <a:r>
              <a:t>System context: users and external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14300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07186"/>
                </a:solidFill>
                <a:latin typeface="Aptos"/>
              </a:defRPr>
            </a:pPr>
            <a:r>
              <a:t>Human users and model provider do not bypass the application API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91656"/>
            <a:ext cx="11155680" cy="0"/>
          </a:xfrm>
          <a:prstGeom prst="line">
            <a:avLst/>
          </a:prstGeom>
          <a:ln w="11430">
            <a:solidFill>
              <a:srgbClr val="DE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483096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BUSINESS MANAGEMENT + CRM  /  AITU SOFTWARE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28832" y="647395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" y="1444752"/>
            <a:ext cx="11027664" cy="45537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System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10226"/>
            <a:ext cx="10543032" cy="38593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83464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0B6A8"/>
                </a:solidFill>
                <a:latin typeface="Aptos"/>
              </a:defRPr>
            </a:pPr>
            <a:r>
              <a:t>ARCHITECTURE · VIEW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2243A"/>
                </a:solidFill>
                <a:latin typeface="Aptos"/>
              </a:defRPr>
            </a:pPr>
            <a:r>
              <a:t>Use cases: human-owned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14300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07186"/>
                </a:solidFill>
                <a:latin typeface="Aptos"/>
              </a:defRPr>
            </a:pPr>
            <a:r>
              <a:t>Editable UML (.puml) and Graphviz sources are included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91656"/>
            <a:ext cx="11155680" cy="0"/>
          </a:xfrm>
          <a:prstGeom prst="line">
            <a:avLst/>
          </a:prstGeom>
          <a:ln w="11430">
            <a:solidFill>
              <a:srgbClr val="DE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483096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BUSINESS MANAGEMENT + CRM  /  AITU SOFTWARE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28832" y="647395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399032"/>
            <a:ext cx="7808975" cy="47365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_Use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61" y="1545336"/>
            <a:ext cx="4679773" cy="439826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686800" y="1691640"/>
            <a:ext cx="2834640" cy="114300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06256" y="1911095"/>
            <a:ext cx="2487168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Owner / 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395728"/>
            <a:ext cx="24505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9C4D2"/>
                </a:solidFill>
                <a:latin typeface="Aptos"/>
              </a:defRPr>
            </a:pPr>
            <a:r>
              <a:t>Access and governance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2971800"/>
            <a:ext cx="283464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06256" y="3163824"/>
            <a:ext cx="242316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2243A"/>
                </a:solidFill>
                <a:latin typeface="Aptos"/>
              </a:defRPr>
            </a:pPr>
            <a:r>
              <a:t>Manager / Employee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6256" y="3630168"/>
            <a:ext cx="247802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07186"/>
                </a:solidFill>
                <a:latin typeface="Aptos"/>
              </a:defRPr>
            </a:pPr>
            <a:r>
              <a:t>CRM, tasks and bookings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261104"/>
            <a:ext cx="2834640" cy="1216152"/>
          </a:xfrm>
          <a:prstGeom prst="roundRect">
            <a:avLst>
              <a:gd name="adj" fmla="val 10000"/>
            </a:avLst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06256" y="4462272"/>
            <a:ext cx="24505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20B6A8"/>
                </a:solidFill>
                <a:latin typeface="Aptos"/>
              </a:defRPr>
            </a:pPr>
            <a:r>
              <a:t>AI Assistant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6256" y="4882896"/>
            <a:ext cx="2496312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04461"/>
                </a:solidFill>
                <a:latin typeface="Aptos"/>
              </a:defRPr>
            </a:pPr>
            <a:r>
              <a:t>Proposal only, not authorization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83464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0B6A8"/>
                </a:solidFill>
                <a:latin typeface="Aptos"/>
              </a:defRPr>
            </a:pPr>
            <a:r>
              <a:t>ARCHITECTURE · VIEW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2243A"/>
                </a:solidFill>
                <a:latin typeface="Aptos"/>
              </a:defRPr>
            </a:pPr>
            <a:r>
              <a:t>Modular monolith with guarded AI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14300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07186"/>
                </a:solidFill>
                <a:latin typeface="Aptos"/>
              </a:defRPr>
            </a:pPr>
            <a:r>
              <a:t>One API, shared business rules and a transactional PostgreSQL persistence layer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91656"/>
            <a:ext cx="11155680" cy="0"/>
          </a:xfrm>
          <a:prstGeom prst="line">
            <a:avLst/>
          </a:prstGeom>
          <a:ln w="11430">
            <a:solidFill>
              <a:srgbClr val="DE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483096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BUSINESS MANAGEMENT + CRM  /  AITU SOFTWARE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28832" y="647395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463040"/>
            <a:ext cx="10981944" cy="45354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890" y="1591056"/>
            <a:ext cx="9591171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83464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0B6A8"/>
                </a:solidFill>
                <a:latin typeface="Aptos"/>
              </a:defRPr>
            </a:pPr>
            <a:r>
              <a:t>UX /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2243A"/>
                </a:solidFill>
                <a:latin typeface="Aptos"/>
              </a:defRPr>
            </a:pPr>
            <a:r>
              <a:t>A clickable prototype demonstrates key journeys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14300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07186"/>
                </a:solidFill>
                <a:latin typeface="Aptos"/>
              </a:defRPr>
            </a:pPr>
            <a:r>
              <a:t>Standalone browser demo, using synthetic records and local in-memory state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91656"/>
            <a:ext cx="11155680" cy="0"/>
          </a:xfrm>
          <a:prstGeom prst="line">
            <a:avLst/>
          </a:prstGeom>
          <a:ln w="11430">
            <a:solidFill>
              <a:srgbClr val="DE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483096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BUSINESS MANAGEMENT + CRM  /  AITU SOFTWARE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28832" y="647395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" y="1408176"/>
            <a:ext cx="7351775" cy="4727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106" y="1591056"/>
            <a:ext cx="5337706" cy="432511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156448" y="1627632"/>
            <a:ext cx="3383280" cy="11795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792224"/>
            <a:ext cx="29169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2243A"/>
                </a:solidFill>
                <a:latin typeface="Aptos"/>
              </a:defRPr>
            </a:pPr>
            <a:r>
              <a:t>Navigate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203704"/>
            <a:ext cx="285292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07186"/>
                </a:solidFill>
                <a:latin typeface="Aptos"/>
              </a:defRPr>
            </a:pPr>
            <a:r>
              <a:t>Overview, clients, deals, tasks, bookings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3090672"/>
            <a:ext cx="3383280" cy="11795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3255264"/>
            <a:ext cx="29169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2243A"/>
                </a:solidFill>
                <a:latin typeface="Aptos"/>
              </a:defRPr>
            </a:pPr>
            <a:r>
              <a:t>Create demo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666744"/>
            <a:ext cx="285292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07186"/>
                </a:solidFill>
                <a:latin typeface="Aptos"/>
              </a:defRPr>
            </a:pPr>
            <a:r>
              <a:t>Inputs and tables update locally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4553712"/>
            <a:ext cx="3383280" cy="11795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718304"/>
            <a:ext cx="29169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2243A"/>
                </a:solidFill>
                <a:latin typeface="Aptos"/>
              </a:defRPr>
            </a:pPr>
            <a:r>
              <a:t>AI draft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5129784"/>
            <a:ext cx="285292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07186"/>
                </a:solidFill>
                <a:latin typeface="Aptos"/>
              </a:defRPr>
            </a:pPr>
            <a:r>
              <a:t>Visible proposal requires user approval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83464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0B6A8"/>
                </a:solidFill>
                <a:latin typeface="Aptos"/>
              </a:defRPr>
            </a:pPr>
            <a:r>
              <a:t>AI SAFETY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2243A"/>
                </a:solidFill>
                <a:latin typeface="Aptos"/>
              </a:defRPr>
            </a:pPr>
            <a:r>
              <a:t>AI is an assistant, not an administrator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14300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07186"/>
                </a:solidFill>
                <a:latin typeface="Aptos"/>
              </a:defRPr>
            </a:pPr>
            <a:r>
              <a:t>The language model never receives database credentials or general-purpose execution rights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91656"/>
            <a:ext cx="11155680" cy="0"/>
          </a:xfrm>
          <a:prstGeom prst="line">
            <a:avLst/>
          </a:prstGeom>
          <a:ln w="11430">
            <a:solidFill>
              <a:srgbClr val="DE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483096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BUSINESS MANAGEMENT + CRM  /  AITU SOFTWARE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28832" y="647395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29384"/>
            <a:ext cx="2112264" cy="191109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130552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20B6A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2642616"/>
            <a:ext cx="180136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12243A"/>
                </a:solidFill>
                <a:latin typeface="Aptos"/>
              </a:defRPr>
            </a:pPr>
            <a:r>
              <a:t>Intent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3081528"/>
            <a:ext cx="181051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07186"/>
                </a:solidFill>
                <a:latin typeface="Aptos"/>
              </a:defRPr>
            </a:pPr>
            <a:r>
              <a:t>User asks for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2587752"/>
            <a:ext cx="24688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100" b="1" i="0">
                <a:solidFill>
                  <a:srgbClr val="20B6A8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53512" y="1929384"/>
            <a:ext cx="2112264" cy="191109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2130552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20B6A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9816" y="2642616"/>
            <a:ext cx="180136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12243A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9816" y="3081528"/>
            <a:ext cx="181051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07186"/>
                </a:solidFill>
                <a:latin typeface="Aptos"/>
              </a:defRPr>
            </a:pPr>
            <a:r>
              <a:t>Structured typed 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4064" y="2587752"/>
            <a:ext cx="24688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100" b="1" i="0">
                <a:solidFill>
                  <a:srgbClr val="20B6A8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12664" y="1929384"/>
            <a:ext cx="2112264" cy="191109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68112" y="2130552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20B6A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58968" y="2642616"/>
            <a:ext cx="180136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12243A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58968" y="3081528"/>
            <a:ext cx="181051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07186"/>
                </a:solidFill>
                <a:latin typeface="Aptos"/>
              </a:defRPr>
            </a:pPr>
            <a:r>
              <a:t>User inspects changes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2587752"/>
            <a:ext cx="24688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100" b="1" i="0">
                <a:solidFill>
                  <a:srgbClr val="20B6A8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71816" y="1929384"/>
            <a:ext cx="2112264" cy="1911095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27264" y="2130552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58D6C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2642616"/>
            <a:ext cx="180136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3081528"/>
            <a:ext cx="181051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6DAE3"/>
                </a:solidFill>
                <a:latin typeface="Aptos"/>
              </a:defRPr>
            </a:pPr>
            <a:r>
              <a:t>Auth + schema + invariants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8" y="2587752"/>
            <a:ext cx="24688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100" b="1" i="0">
                <a:solidFill>
                  <a:srgbClr val="20B6A8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30968" y="1929384"/>
            <a:ext cx="2112264" cy="191109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86416" y="2130552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20B6A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77272" y="2642616"/>
            <a:ext cx="180136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12243A"/>
                </a:solidFill>
                <a:latin typeface="Aptos"/>
              </a:defRPr>
            </a:pPr>
            <a:r>
              <a:t>Commit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77272" y="3081528"/>
            <a:ext cx="181051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07186"/>
                </a:solidFill>
                <a:latin typeface="Aptos"/>
              </a:defRPr>
            </a:pPr>
            <a:r>
              <a:t>Approved state mutation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47672" y="4407408"/>
            <a:ext cx="8348472" cy="1024128"/>
          </a:xfrm>
          <a:prstGeom prst="roundRect">
            <a:avLst>
              <a:gd name="adj" fmla="val 10000"/>
            </a:avLst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40280" y="4745736"/>
            <a:ext cx="778154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204461"/>
                </a:solidFill>
                <a:latin typeface="Aptos"/>
              </a:defRPr>
            </a:pPr>
            <a:r>
              <a:t>Any failed permission, invalid data or collision → REJECT; no write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83464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0B6A8"/>
                </a:solidFill>
                <a:latin typeface="Aptos"/>
              </a:defRPr>
            </a:pPr>
            <a:r>
              <a:t>VERIFICATION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2243A"/>
                </a:solidFill>
                <a:latin typeface="Aptos"/>
              </a:defRPr>
            </a:pPr>
            <a:r>
              <a:t>Evaluation compares outcomes—not promises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14300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07186"/>
                </a:solidFill>
                <a:latin typeface="Aptos"/>
              </a:defRPr>
            </a:pPr>
            <a:r>
              <a:t>All thresholds are proposed targets; there are no real test results yet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91656"/>
            <a:ext cx="11155680" cy="0"/>
          </a:xfrm>
          <a:prstGeom prst="line">
            <a:avLst/>
          </a:prstGeom>
          <a:ln w="11430">
            <a:solidFill>
              <a:srgbClr val="DE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483096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BUSINESS MANAGEMENT + CRM  /  AITU SOFTWARE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28832" y="647395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2167128" cy="30266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148840"/>
            <a:ext cx="184708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20B6A8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2926080"/>
            <a:ext cx="180136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2243A"/>
                </a:solidFill>
                <a:latin typeface="Aptos"/>
              </a:defRPr>
            </a:pPr>
            <a:r>
              <a:t>overlapping confirmed bookings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059936"/>
            <a:ext cx="18288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07186"/>
                </a:solidFill>
                <a:latin typeface="Aptos"/>
              </a:defRPr>
            </a:pPr>
            <a:r>
              <a:t>Concurrency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9504" y="1783080"/>
            <a:ext cx="2167128" cy="30266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5808" y="2148840"/>
            <a:ext cx="184708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20B6A8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2926080"/>
            <a:ext cx="180136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2243A"/>
                </a:solidFill>
                <a:latin typeface="Aptos"/>
              </a:defRPr>
            </a:pPr>
            <a:r>
              <a:t>unauthorized state mutations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4059936"/>
            <a:ext cx="18288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07186"/>
                </a:solidFill>
                <a:latin typeface="Aptos"/>
              </a:defRPr>
            </a:pPr>
            <a:r>
              <a:t>Negative-role &amp; AI corpus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30368" y="1783080"/>
            <a:ext cx="2167128" cy="30266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76672" y="2148840"/>
            <a:ext cx="184708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20B6A8"/>
                </a:solidFill>
                <a:latin typeface="Aptos"/>
              </a:defRPr>
            </a:pPr>
            <a:r>
              <a:t>≥85%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2392" y="2926080"/>
            <a:ext cx="180136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2243A"/>
                </a:solidFill>
                <a:latin typeface="Aptos"/>
              </a:defRPr>
            </a:pPr>
            <a:r>
              <a:t>correct AI proposals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59" y="4059936"/>
            <a:ext cx="18288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07186"/>
                </a:solidFill>
                <a:latin typeface="Aptos"/>
              </a:defRPr>
            </a:pPr>
            <a:r>
              <a:t>100 annotated requests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71231" y="1783080"/>
            <a:ext cx="2167128" cy="30266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17536" y="2148840"/>
            <a:ext cx="184708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20B6A8"/>
                </a:solidFill>
                <a:latin typeface="Aptos"/>
              </a:defRPr>
            </a:pPr>
            <a:r>
              <a:t>≥70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63256" y="2926080"/>
            <a:ext cx="180136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2243A"/>
                </a:solidFill>
                <a:latin typeface="Aptos"/>
              </a:defRPr>
            </a:pPr>
            <a:r>
              <a:t>SUS score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5823" y="4059936"/>
            <a:ext cx="18288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07186"/>
                </a:solidFill>
                <a:latin typeface="Aptos"/>
              </a:defRPr>
            </a:pPr>
            <a:r>
              <a:t>Guided usability sessions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12096" y="1783080"/>
            <a:ext cx="2167128" cy="30266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2148840"/>
            <a:ext cx="184708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20B6A8"/>
                </a:solidFill>
                <a:latin typeface="Aptos"/>
              </a:defRPr>
            </a:pPr>
            <a:r>
              <a:t>≥20%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2926080"/>
            <a:ext cx="180136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2243A"/>
                </a:solidFill>
                <a:latin typeface="Aptos"/>
              </a:defRPr>
            </a:pPr>
            <a:r>
              <a:t>median time improvement target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76688" y="4059936"/>
            <a:ext cx="18288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07186"/>
                </a:solidFill>
                <a:latin typeface="Aptos"/>
              </a:defRPr>
            </a:pPr>
            <a:r>
              <a:t>Against recorded manual baseline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" y="5413248"/>
            <a:ext cx="1075334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07186"/>
                </a:solidFill>
                <a:latin typeface="Aptos"/>
              </a:defRPr>
            </a:pPr>
            <a:r>
              <a:t>Baseline: actual customer workflow or documented separate spreadsheet + calendar process; record setup and timing.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83464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0B6A8"/>
                </a:solidFill>
                <a:latin typeface="Aptos"/>
              </a:defRPr>
            </a:pPr>
            <a:r>
              <a:t>PROJECT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2243A"/>
                </a:solidFill>
                <a:latin typeface="Aptos"/>
              </a:defRPr>
            </a:pPr>
            <a:r>
              <a:t>Team accountability and project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14300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07186"/>
                </a:solidFill>
                <a:latin typeface="Aptos"/>
              </a:defRPr>
            </a:pPr>
            <a:r>
              <a:t>Every meaningful task belongs to an owner, has acceptance criteria and links to Git evidence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91656"/>
            <a:ext cx="11155680" cy="0"/>
          </a:xfrm>
          <a:prstGeom prst="line">
            <a:avLst/>
          </a:prstGeom>
          <a:ln w="11430">
            <a:solidFill>
              <a:srgbClr val="DE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483096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BUSINESS MANAGEMENT + CRM  /  AITU SOFTWARE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28832" y="647395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09344"/>
            <a:ext cx="356616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5528" y="1819656"/>
            <a:ext cx="576072" cy="576072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6" y="1975104"/>
            <a:ext cx="2194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20B6A8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1847088"/>
            <a:ext cx="25054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2243A"/>
                </a:solidFill>
                <a:latin typeface="Aptos"/>
              </a:defRPr>
            </a:pPr>
            <a:r>
              <a:t>Aitzhan Iliyas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94560"/>
            <a:ext cx="24231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20B6A8"/>
                </a:solidFill>
                <a:latin typeface="Aptos"/>
              </a:defRPr>
            </a:pPr>
            <a:r>
              <a:t>Backend +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2889504"/>
            <a:ext cx="31546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07186"/>
                </a:solidFill>
                <a:latin typeface="Aptos"/>
              </a:defRPr>
            </a:pPr>
            <a:r>
              <a:t>API, schema, data invariants, guarded 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8" y="1609344"/>
            <a:ext cx="356616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45152" y="1819656"/>
            <a:ext cx="576072" cy="576072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3460" y="1975104"/>
            <a:ext cx="2194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20B6A8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1847088"/>
            <a:ext cx="25054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2243A"/>
                </a:solidFill>
                <a:latin typeface="Aptos"/>
              </a:defRPr>
            </a:pPr>
            <a:r>
              <a:t>Aibek Galmbekov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8384" y="2194560"/>
            <a:ext cx="24231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20B6A8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889504"/>
            <a:ext cx="31546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07186"/>
                </a:solidFill>
                <a:latin typeface="Aptos"/>
              </a:defRPr>
            </a:pPr>
            <a:r>
              <a:t>Views, UX flows, validation and integration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02752" y="1609344"/>
            <a:ext cx="356616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94776" y="1819656"/>
            <a:ext cx="576072" cy="576072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73084" y="1975104"/>
            <a:ext cx="2194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20B6A8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4" y="1847088"/>
            <a:ext cx="25054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2243A"/>
                </a:solidFill>
                <a:latin typeface="Aptos"/>
              </a:defRPr>
            </a:pPr>
            <a:r>
              <a:t>Daniil Khvan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8" y="2194560"/>
            <a:ext cx="24231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20B6A8"/>
                </a:solidFill>
                <a:latin typeface="Aptos"/>
              </a:defRPr>
            </a:pPr>
            <a:r>
              <a:t>QA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13064" y="2889504"/>
            <a:ext cx="31546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07186"/>
                </a:solidFill>
                <a:latin typeface="Aptos"/>
              </a:defRPr>
            </a:pPr>
            <a:r>
              <a:t>Test strategy, cases, defect and safety checks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" y="4242816"/>
            <a:ext cx="10844784" cy="850392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498848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YouTrack task  →  feature branch  →  commit / PR  →  review  →  acceptance  →  tag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5568696"/>
            <a:ext cx="105613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07186"/>
                </a:solidFill>
                <a:latin typeface="Aptos"/>
              </a:defRPr>
            </a:pPr>
            <a:r>
              <a:t>This process is prepared as a plan; real URLs, commit history, reviews and approvals still need to be supplied.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83464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0B6A8"/>
                </a:solidFill>
                <a:latin typeface="Aptos"/>
              </a:defRPr>
            </a:pPr>
            <a:r>
              <a:t>SUBMISSION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2243A"/>
                </a:solidFill>
                <a:latin typeface="Aptos"/>
              </a:defRPr>
            </a:pPr>
            <a:r>
              <a:t>Pre-defense readiness: prepared vs outstanding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14300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07186"/>
                </a:solidFill>
                <a:latin typeface="Aptos"/>
              </a:defRPr>
            </a:pPr>
            <a:r>
              <a:t>Transparent evidence tracking is required for an academically defensible submission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91656"/>
            <a:ext cx="11155680" cy="0"/>
          </a:xfrm>
          <a:prstGeom prst="line">
            <a:avLst/>
          </a:prstGeom>
          <a:ln w="11430">
            <a:solidFill>
              <a:srgbClr val="DE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483096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BUSINESS MANAGEMENT + CRM  /  AITU SOFTWARE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28832" y="647395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07186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" y="1545336"/>
            <a:ext cx="5431536" cy="40416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45352" y="1545336"/>
            <a:ext cx="5349240" cy="40416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810512"/>
            <a:ext cx="3182112" cy="338328"/>
          </a:xfrm>
          <a:prstGeom prst="roundRect">
            <a:avLst>
              <a:gd name="adj" fmla="val 15000"/>
            </a:avLst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1874519"/>
            <a:ext cx="29626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0B6A8"/>
                </a:solidFill>
                <a:latin typeface="Aptos"/>
              </a:defRPr>
            </a:pPr>
            <a:r>
              <a:t>PREPARED IN THE PACKAGE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9672" y="1810512"/>
            <a:ext cx="3182112" cy="338328"/>
          </a:xfrm>
          <a:prstGeom prst="roundRect">
            <a:avLst>
              <a:gd name="adj" fmla="val 15000"/>
            </a:avLst>
          </a:prstGeom>
          <a:solidFill>
            <a:srgbClr val="FF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874519"/>
            <a:ext cx="29626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996B34"/>
                </a:solidFill>
                <a:latin typeface="Aptos"/>
              </a:defRPr>
            </a:pPr>
            <a:r>
              <a:t>NEEDS REAL PARTICIPATION</a:t>
            </a:r>
          </a:p>
        </p:txBody>
      </p:sp>
      <p:sp>
        <p:nvSpPr>
          <p:cNvPr id="16" name="Oval 15"/>
          <p:cNvSpPr/>
          <p:nvPr/>
        </p:nvSpPr>
        <p:spPr>
          <a:xfrm>
            <a:off x="905256" y="2423160"/>
            <a:ext cx="182880" cy="182880"/>
          </a:xfrm>
          <a:prstGeom prst="ellipse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0003" y="2446020"/>
            <a:ext cx="109728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2395728"/>
            <a:ext cx="444398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2243A"/>
                </a:solidFill>
                <a:latin typeface="Aptos"/>
              </a:defRPr>
            </a:pPr>
            <a:r>
              <a:t>Research review: 13 academic sources</a:t>
            </a:r>
          </a:p>
        </p:txBody>
      </p:sp>
      <p:sp>
        <p:nvSpPr>
          <p:cNvPr id="19" name="Oval 18"/>
          <p:cNvSpPr/>
          <p:nvPr/>
        </p:nvSpPr>
        <p:spPr>
          <a:xfrm>
            <a:off x="905256" y="2999232"/>
            <a:ext cx="182880" cy="182880"/>
          </a:xfrm>
          <a:prstGeom prst="ellipse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003" y="3022091"/>
            <a:ext cx="109728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2971800"/>
            <a:ext cx="444398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2243A"/>
                </a:solidFill>
                <a:latin typeface="Aptos"/>
              </a:defRPr>
            </a:pPr>
            <a:r>
              <a:t>4 competitors × 9 criteria</a:t>
            </a:r>
          </a:p>
        </p:txBody>
      </p:sp>
      <p:sp>
        <p:nvSpPr>
          <p:cNvPr id="22" name="Oval 21"/>
          <p:cNvSpPr/>
          <p:nvPr/>
        </p:nvSpPr>
        <p:spPr>
          <a:xfrm>
            <a:off x="905256" y="3575304"/>
            <a:ext cx="182880" cy="182880"/>
          </a:xfrm>
          <a:prstGeom prst="ellipse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0003" y="3598163"/>
            <a:ext cx="109728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43584" y="3547872"/>
            <a:ext cx="444398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2243A"/>
                </a:solidFill>
                <a:latin typeface="Aptos"/>
              </a:defRPr>
            </a:pPr>
            <a:r>
              <a:t>5 technology decisions × 3 options</a:t>
            </a:r>
          </a:p>
        </p:txBody>
      </p:sp>
      <p:sp>
        <p:nvSpPr>
          <p:cNvPr id="25" name="Oval 24"/>
          <p:cNvSpPr/>
          <p:nvPr/>
        </p:nvSpPr>
        <p:spPr>
          <a:xfrm>
            <a:off x="905256" y="4151376"/>
            <a:ext cx="182880" cy="182880"/>
          </a:xfrm>
          <a:prstGeom prst="ellipse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0003" y="4174235"/>
            <a:ext cx="109728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3584" y="4123944"/>
            <a:ext cx="444398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2243A"/>
                </a:solidFill>
                <a:latin typeface="Aptos"/>
              </a:defRPr>
            </a:pPr>
            <a:r>
              <a:t>Requirements, 3 diagrams and prototype</a:t>
            </a:r>
          </a:p>
        </p:txBody>
      </p:sp>
      <p:sp>
        <p:nvSpPr>
          <p:cNvPr id="28" name="Oval 27"/>
          <p:cNvSpPr/>
          <p:nvPr/>
        </p:nvSpPr>
        <p:spPr>
          <a:xfrm>
            <a:off x="905256" y="4727448"/>
            <a:ext cx="182880" cy="182880"/>
          </a:xfrm>
          <a:prstGeom prst="ellipse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0003" y="4750308"/>
            <a:ext cx="109728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43584" y="4700016"/>
            <a:ext cx="444398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2243A"/>
                </a:solidFill>
                <a:latin typeface="Aptos"/>
              </a:defRPr>
            </a:pPr>
            <a:r>
              <a:t>Test plan, risks and backlog templates</a:t>
            </a:r>
          </a:p>
        </p:txBody>
      </p:sp>
      <p:sp>
        <p:nvSpPr>
          <p:cNvPr id="31" name="Oval 30"/>
          <p:cNvSpPr/>
          <p:nvPr/>
        </p:nvSpPr>
        <p:spPr>
          <a:xfrm>
            <a:off x="6601968" y="2423160"/>
            <a:ext cx="182880" cy="182880"/>
          </a:xfrm>
          <a:prstGeom prst="ellipse">
            <a:avLst/>
          </a:prstGeom>
          <a:solidFill>
            <a:srgbClr val="FF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63232" y="2443276"/>
            <a:ext cx="8229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996B34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2" y="2395728"/>
            <a:ext cx="43434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2243A"/>
                </a:solidFill>
                <a:latin typeface="Aptos"/>
              </a:defRPr>
            </a:pPr>
            <a:r>
              <a:t>3–5 real user interviews or client signoff</a:t>
            </a:r>
          </a:p>
        </p:txBody>
      </p:sp>
      <p:sp>
        <p:nvSpPr>
          <p:cNvPr id="34" name="Oval 33"/>
          <p:cNvSpPr/>
          <p:nvPr/>
        </p:nvSpPr>
        <p:spPr>
          <a:xfrm>
            <a:off x="6601968" y="2999232"/>
            <a:ext cx="182880" cy="182880"/>
          </a:xfrm>
          <a:prstGeom prst="ellipse">
            <a:avLst/>
          </a:prstGeom>
          <a:solidFill>
            <a:srgbClr val="FF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63232" y="3019348"/>
            <a:ext cx="8229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996B34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1152" y="2971800"/>
            <a:ext cx="43434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2243A"/>
                </a:solidFill>
                <a:latin typeface="Aptos"/>
              </a:defRPr>
            </a:pPr>
            <a:r>
              <a:t>Supervisor review and change records</a:t>
            </a:r>
          </a:p>
        </p:txBody>
      </p:sp>
      <p:sp>
        <p:nvSpPr>
          <p:cNvPr id="37" name="Oval 36"/>
          <p:cNvSpPr/>
          <p:nvPr/>
        </p:nvSpPr>
        <p:spPr>
          <a:xfrm>
            <a:off x="6601968" y="3575304"/>
            <a:ext cx="182880" cy="182880"/>
          </a:xfrm>
          <a:prstGeom prst="ellipse">
            <a:avLst/>
          </a:prstGeom>
          <a:solidFill>
            <a:srgbClr val="FF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63232" y="3595420"/>
            <a:ext cx="8229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996B34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1152" y="3547872"/>
            <a:ext cx="43434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2243A"/>
                </a:solidFill>
                <a:latin typeface="Aptos"/>
              </a:defRPr>
            </a:pPr>
            <a:r>
              <a:t>Repository and actual YouTrack project links</a:t>
            </a:r>
          </a:p>
        </p:txBody>
      </p:sp>
      <p:sp>
        <p:nvSpPr>
          <p:cNvPr id="40" name="Oval 39"/>
          <p:cNvSpPr/>
          <p:nvPr/>
        </p:nvSpPr>
        <p:spPr>
          <a:xfrm>
            <a:off x="6601968" y="4151376"/>
            <a:ext cx="182880" cy="182880"/>
          </a:xfrm>
          <a:prstGeom prst="ellipse">
            <a:avLst/>
          </a:prstGeom>
          <a:solidFill>
            <a:srgbClr val="FF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63232" y="4171492"/>
            <a:ext cx="8229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996B34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1152" y="4123944"/>
            <a:ext cx="43434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2243A"/>
                </a:solidFill>
                <a:latin typeface="Aptos"/>
              </a:defRPr>
            </a:pPr>
            <a:r>
              <a:t>Independent team commits and code reviews</a:t>
            </a:r>
          </a:p>
        </p:txBody>
      </p:sp>
      <p:sp>
        <p:nvSpPr>
          <p:cNvPr id="43" name="Oval 42"/>
          <p:cNvSpPr/>
          <p:nvPr/>
        </p:nvSpPr>
        <p:spPr>
          <a:xfrm>
            <a:off x="6601968" y="4727448"/>
            <a:ext cx="182880" cy="182880"/>
          </a:xfrm>
          <a:prstGeom prst="ellipse">
            <a:avLst/>
          </a:prstGeom>
          <a:solidFill>
            <a:srgbClr val="FF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63232" y="4747564"/>
            <a:ext cx="8229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996B34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31152" y="4700016"/>
            <a:ext cx="43434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2243A"/>
                </a:solidFill>
                <a:latin typeface="Aptos"/>
              </a:defRPr>
            </a:pPr>
            <a:r>
              <a:t>Reviewed first-stage Git tag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0B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1856231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200" b="1" i="0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3035808"/>
            <a:ext cx="8348472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500" b="0" i="0">
                <a:solidFill>
                  <a:srgbClr val="6FE2D3"/>
                </a:solidFill>
                <a:latin typeface="Aptos"/>
              </a:defRPr>
            </a:pPr>
            <a:r>
              <a:t>Questions &amp; feedback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64608" y="3867912"/>
            <a:ext cx="2487167" cy="0"/>
          </a:xfrm>
          <a:prstGeom prst="line">
            <a:avLst/>
          </a:prstGeom>
          <a:ln w="25400">
            <a:solidFill>
              <a:srgbClr val="365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084831" y="4325112"/>
            <a:ext cx="8019288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B5C7D6"/>
                </a:solidFill>
                <a:latin typeface="Aptos"/>
              </a:defRPr>
            </a:pPr>
            <a:r>
              <a:t>Development of a Business Management and CRM Platform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B5C7D6"/>
                </a:solidFill>
                <a:latin typeface="Aptos"/>
              </a:defRPr>
            </a:pPr>
            <a:r>
              <a:t>with an Embedded AI Assistant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 of a Business Management and CRM Platform with an Embedded AI Assistant</dc:title>
  <dc:subject>First pre-defense, 24 October 2026</dc:subject>
  <dc:creator>Aitzhan Iliyas, Aibek Galmbekov, Daniil Khvan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